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14748294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57BD9-D274-4C63-91A6-D6D6A05566E3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48C7C-D9FB-417E-BC55-09AED7FF6C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7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51AA7A-8B69-45D3-A3D7-99FE93C04D5F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Neu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9129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Ful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 noProof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9A5FE8-62E3-0D2E-834A-D1F1B8269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3" name="Innovation Curve">
            <a:extLst>
              <a:ext uri="{FF2B5EF4-FFF2-40B4-BE49-F238E27FC236}">
                <a16:creationId xmlns:a16="http://schemas.microsoft.com/office/drawing/2014/main" id="{18332D96-F8AA-AD1E-863A-6EA58DA26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65655" y="0"/>
            <a:ext cx="6835842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 Then Reorder: Send to back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CDC6CD3E-31EA-EA2F-BE3B-37D4E6526A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101235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BD22-02FF-5EAB-ABA3-3C0BB396027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DE"/>
              <a:t>Date</a:t>
            </a: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566C0A6-4FFE-882A-7F2D-B9B9A23AB5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79393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FACCEEE-5469-CC54-C90B-C9C1BF3F2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79393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A6808F4F-EA69-F71A-723C-E607F81879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335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, Partial Innovation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B69904B-F3B0-9924-1277-D5E10CC8F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8" name="Innovation Curve">
            <a:extLst>
              <a:ext uri="{FF2B5EF4-FFF2-40B4-BE49-F238E27FC236}">
                <a16:creationId xmlns:a16="http://schemas.microsoft.com/office/drawing/2014/main" id="{F707DE12-3594-93EB-F056-2B2C43B247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37463" y="3175"/>
            <a:ext cx="4554537" cy="685641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12179AF-A82A-2C38-AA6E-ADD8AE770B1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DE"/>
              <a:t>Date</a:t>
            </a:r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79799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797992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13" name="NTT DATA Global Logo" descr="NTT DATA Global Logo">
            <a:extLst>
              <a:ext uri="{FF2B5EF4-FFF2-40B4-BE49-F238E27FC236}">
                <a16:creationId xmlns:a16="http://schemas.microsoft.com/office/drawing/2014/main" id="{F1A70F1C-0C1D-4983-5A07-15932C3427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3CEDB687-72D7-CB65-F36A-20FAF24C235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1475" y="5875374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700" kern="1200" noProof="0" dirty="0">
                <a:solidFill>
                  <a:schemeClr val="accent6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260599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Full Imag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 Navy SemiTrans Overlay">
            <a:extLst>
              <a:ext uri="{FF2B5EF4-FFF2-40B4-BE49-F238E27FC236}">
                <a16:creationId xmlns:a16="http://schemas.microsoft.com/office/drawing/2014/main" id="{39BA9756-44A4-AC93-1405-84B020B6F4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7" name="Cover Photo Placeholder">
            <a:extLst>
              <a:ext uri="{FF2B5EF4-FFF2-40B4-BE49-F238E27FC236}">
                <a16:creationId xmlns:a16="http://schemas.microsoft.com/office/drawing/2014/main" id="{47AACDBA-727E-B7AC-B9F8-A809F3406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858A80-3045-093E-B563-A7492ACE92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7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rgbClr val="F8F8F8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AE6CB7E-3B40-11A3-1BAD-6A73DF9D8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7" y="3810000"/>
            <a:ext cx="11440477" cy="353943"/>
          </a:xfrm>
          <a:prstGeom prst="rect">
            <a:avLst/>
          </a:prstGeo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rgbClr val="F8F8F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3B868D7-8467-2439-DEEF-BBA9DFE90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3" name="Info Box">
            <a:extLst>
              <a:ext uri="{FF2B5EF4-FFF2-40B4-BE49-F238E27FC236}">
                <a16:creationId xmlns:a16="http://schemas.microsoft.com/office/drawing/2014/main" id="{60ABE840-6E2F-413E-A4F2-D50BE7A3C8B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1" name="NTT DATA Global Logo" descr="NTT DATA Global Logo">
            <a:extLst>
              <a:ext uri="{FF2B5EF4-FFF2-40B4-BE49-F238E27FC236}">
                <a16:creationId xmlns:a16="http://schemas.microsoft.com/office/drawing/2014/main" id="{A2A24C7A-90C2-A7EA-697B-7A559561F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9860801" y="6316394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618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Cover_Dark_Image Bot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art Navy SemiTrans Overlay">
            <a:extLst>
              <a:ext uri="{FF2B5EF4-FFF2-40B4-BE49-F238E27FC236}">
                <a16:creationId xmlns:a16="http://schemas.microsoft.com/office/drawing/2014/main" id="{814008A9-48D1-A825-2133-305473A22B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2096604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0" cy="651610"/>
          </a:xfrm>
        </p:spPr>
        <p:txBody>
          <a:bodyPr/>
          <a:lstStyle>
            <a:lvl1pPr>
              <a:defRPr sz="4400" b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31855" y="3147301"/>
            <a:ext cx="788669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DE"/>
              <a:t>Date</a:t>
            </a:r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71690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5" name="Innovation Curve Over v02">
            <a:extLst>
              <a:ext uri="{FF2B5EF4-FFF2-40B4-BE49-F238E27FC236}">
                <a16:creationId xmlns:a16="http://schemas.microsoft.com/office/drawing/2014/main" id="{7A6AA644-177D-9E4C-8A3F-250C66632B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3733800"/>
            <a:ext cx="2752725" cy="27432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Info box">
            <a:extLst>
              <a:ext uri="{FF2B5EF4-FFF2-40B4-BE49-F238E27FC236}">
                <a16:creationId xmlns:a16="http://schemas.microsoft.com/office/drawing/2014/main" id="{56B3E0DC-CFF6-D134-CAF5-A5425EB6CB8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sp>
        <p:nvSpPr>
          <p:cNvPr id="14" name="NTT DATA Global Logo" descr="NTT DATA Global Logo">
            <a:extLst>
              <a:ext uri="{FF2B5EF4-FFF2-40B4-BE49-F238E27FC236}">
                <a16:creationId xmlns:a16="http://schemas.microsoft.com/office/drawing/2014/main" id="{94BFDE7A-6BFD-69BD-47EF-32959BB9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71475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886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8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‹Nº›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7165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noProof="0" smtClean="0"/>
              <a:pPr/>
              <a:t>‹Nº›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2475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109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488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Blank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81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Blank_Dark with foo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00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Ful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/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5AC7748B-57B0-6A46-ED50-8FBD40E607A6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1183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E3C760B8-DB89-2960-48EE-7551EFCFDEA7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3925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6829493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586909" y="6563358"/>
            <a:ext cx="3111831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</p:spTree>
    <p:extLst>
      <p:ext uri="{BB962C8B-B14F-4D97-AF65-F5344CB8AC3E}">
        <p14:creationId xmlns:p14="http://schemas.microsoft.com/office/powerpoint/2010/main" val="2919080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Bottom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48318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3191FB2-5C06-3B67-1454-1D220DA037E1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2504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 Thre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prstGeom prst="rect">
            <a:avLst/>
          </a:prstGeo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76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Collection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91928" y="3987606"/>
            <a:ext cx="5365113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49318" y="2163386"/>
            <a:ext cx="2377440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5" y="333373"/>
            <a:ext cx="4419959" cy="356616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59747" y="2140169"/>
            <a:ext cx="2460778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3840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3"/>
            <a:ext cx="4353503" cy="356616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3"/>
            <a:ext cx="2460778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7" y="3744196"/>
            <a:ext cx="2377440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79" y="5399590"/>
            <a:ext cx="5371355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59747" y="4926695"/>
            <a:ext cx="2460778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 userDrawn="1"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12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Future Blu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87ED33-6A4E-4B88-9978-60E9E0EBFC9F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NTT DATA Global Logo">
            <a:extLst>
              <a:ext uri="{FF2B5EF4-FFF2-40B4-BE49-F238E27FC236}">
                <a16:creationId xmlns:a16="http://schemas.microsoft.com/office/drawing/2014/main" id="{3F03F05C-59F6-715B-5A33-907AD87C66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223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Navy Dark with picture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 Navy SemiTrans Overlay">
            <a:extLst>
              <a:ext uri="{FF2B5EF4-FFF2-40B4-BE49-F238E27FC236}">
                <a16:creationId xmlns:a16="http://schemas.microsoft.com/office/drawing/2014/main" id="{6E4F8208-B33A-86C1-C4BF-6C513A841D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>
                <a:noFill/>
              </a:defRPr>
            </a:lvl2pPr>
            <a:lvl3pPr marL="216000" indent="0">
              <a:buFont typeface="Arial" panose="020B0604020202020204" pitchFamily="34" charset="0"/>
              <a:buNone/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2"/>
            <a:r>
              <a:rPr lang="en-US"/>
              <a:t> 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CE6D5FB-5128-84ED-8909-686C6A3993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rgbClr val="FF7A00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0" name="NTT DATA Global Logo" descr="NTT DATA Global Logo">
            <a:extLst>
              <a:ext uri="{FF2B5EF4-FFF2-40B4-BE49-F238E27FC236}">
                <a16:creationId xmlns:a16="http://schemas.microsoft.com/office/drawing/2014/main" id="{188EBC45-4F1C-E0B0-9BB4-2942DDBDBEA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1443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prstGeom prst="rect">
            <a:avLst/>
          </a:prstGeo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E3EC910-66B9-7290-6910-39097643A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8FF710-A250-66BE-1682-899EBECEA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4421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</p:spTree>
    <p:extLst>
      <p:ext uri="{BB962C8B-B14F-4D97-AF65-F5344CB8AC3E}">
        <p14:creationId xmlns:p14="http://schemas.microsoft.com/office/powerpoint/2010/main" val="38144528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Curve on Righ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© 2023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8" name="Innovation Curve">
            <a:extLst>
              <a:ext uri="{FF2B5EF4-FFF2-40B4-BE49-F238E27FC236}">
                <a16:creationId xmlns:a16="http://schemas.microsoft.com/office/drawing/2014/main" id="{8FAD0C94-F295-1BA4-75E9-C0403855E0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970" y="2281852"/>
            <a:ext cx="3879556" cy="389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83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 Curve Image Lef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Grid">
            <a:extLst>
              <a:ext uri="{FF2B5EF4-FFF2-40B4-BE49-F238E27FC236}">
                <a16:creationId xmlns:a16="http://schemas.microsoft.com/office/drawing/2014/main" id="{7C23E814-83D3-3A4C-E7C1-1CC5AAE30D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9852" y="2403913"/>
            <a:ext cx="3755940" cy="376771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200"/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8" name="Mask">
            <a:extLst>
              <a:ext uri="{FF2B5EF4-FFF2-40B4-BE49-F238E27FC236}">
                <a16:creationId xmlns:a16="http://schemas.microsoft.com/office/drawing/2014/main" id="{6A3F8A03-35AC-7457-3761-25EFCA9E3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389852" y="2403913"/>
            <a:ext cx="3755940" cy="3767718"/>
          </a:xfrm>
          <a:custGeom>
            <a:avLst/>
            <a:gdLst>
              <a:gd name="connsiteX0" fmla="*/ 1221722 w 3755940"/>
              <a:gd name="connsiteY0" fmla="*/ 0 h 3767718"/>
              <a:gd name="connsiteX1" fmla="*/ 2020606 w 3755940"/>
              <a:gd name="connsiteY1" fmla="*/ 439029 h 3767718"/>
              <a:gd name="connsiteX2" fmla="*/ 2500058 w 3755940"/>
              <a:gd name="connsiteY2" fmla="*/ 1241044 h 3767718"/>
              <a:gd name="connsiteX3" fmla="*/ 3753449 w 3755940"/>
              <a:gd name="connsiteY3" fmla="*/ 3762701 h 3767718"/>
              <a:gd name="connsiteX4" fmla="*/ 3755940 w 3755940"/>
              <a:gd name="connsiteY4" fmla="*/ 3767718 h 3767718"/>
              <a:gd name="connsiteX5" fmla="*/ 2499239 w 3755940"/>
              <a:gd name="connsiteY5" fmla="*/ 3767718 h 3767718"/>
              <a:gd name="connsiteX6" fmla="*/ 2498278 w 3755940"/>
              <a:gd name="connsiteY6" fmla="*/ 3765796 h 3767718"/>
              <a:gd name="connsiteX7" fmla="*/ 1255918 w 3755940"/>
              <a:gd name="connsiteY7" fmla="*/ 1279154 h 3767718"/>
              <a:gd name="connsiteX8" fmla="*/ 1255918 w 3755940"/>
              <a:gd name="connsiteY8" fmla="*/ 3767718 h 3767718"/>
              <a:gd name="connsiteX9" fmla="*/ 1252431 w 3755940"/>
              <a:gd name="connsiteY9" fmla="*/ 3767718 h 3767718"/>
              <a:gd name="connsiteX10" fmla="*/ 0 w 3755940"/>
              <a:gd name="connsiteY10" fmla="*/ 3767718 h 3767718"/>
              <a:gd name="connsiteX11" fmla="*/ 0 w 3755940"/>
              <a:gd name="connsiteY11" fmla="*/ 1264422 h 3767718"/>
              <a:gd name="connsiteX12" fmla="*/ 299364 w 3755940"/>
              <a:gd name="connsiteY12" fmla="*/ 383020 h 3767718"/>
              <a:gd name="connsiteX13" fmla="*/ 1221722 w 3755940"/>
              <a:gd name="connsiteY13" fmla="*/ 0 h 376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55940" h="3767718">
                <a:moveTo>
                  <a:pt x="1221722" y="0"/>
                </a:moveTo>
                <a:cubicBezTo>
                  <a:pt x="1554534" y="0"/>
                  <a:pt x="1814293" y="189446"/>
                  <a:pt x="2020606" y="439029"/>
                </a:cubicBezTo>
                <a:cubicBezTo>
                  <a:pt x="2226883" y="688575"/>
                  <a:pt x="2380212" y="998721"/>
                  <a:pt x="2500058" y="1241044"/>
                </a:cubicBezTo>
                <a:lnTo>
                  <a:pt x="3753449" y="3762701"/>
                </a:lnTo>
                <a:lnTo>
                  <a:pt x="3755940" y="3767718"/>
                </a:lnTo>
                <a:lnTo>
                  <a:pt x="2499239" y="3767718"/>
                </a:lnTo>
                <a:lnTo>
                  <a:pt x="2498278" y="3765796"/>
                </a:lnTo>
                <a:lnTo>
                  <a:pt x="1255918" y="1279154"/>
                </a:lnTo>
                <a:lnTo>
                  <a:pt x="1255918" y="3767718"/>
                </a:lnTo>
                <a:cubicBezTo>
                  <a:pt x="1255918" y="3767718"/>
                  <a:pt x="1252431" y="3767718"/>
                  <a:pt x="1252431" y="3767718"/>
                </a:cubicBezTo>
                <a:lnTo>
                  <a:pt x="0" y="3767718"/>
                </a:lnTo>
                <a:lnTo>
                  <a:pt x="0" y="1264422"/>
                </a:lnTo>
                <a:cubicBezTo>
                  <a:pt x="0" y="932251"/>
                  <a:pt x="97677" y="616163"/>
                  <a:pt x="299364" y="383020"/>
                </a:cubicBezTo>
                <a:cubicBezTo>
                  <a:pt x="501086" y="149842"/>
                  <a:pt x="806677" y="0"/>
                  <a:pt x="1221722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sz="200">
                <a:solidFill>
                  <a:srgbClr val="070F26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0285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Light_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nnovation Curve">
            <a:extLst>
              <a:ext uri="{FF2B5EF4-FFF2-40B4-BE49-F238E27FC236}">
                <a16:creationId xmlns:a16="http://schemas.microsoft.com/office/drawing/2014/main" id="{9211F747-506E-5ED4-9B68-EE6B3F99C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2983" y="-14748"/>
            <a:ext cx="6872748" cy="687274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506BD0E-4DCD-8BA9-2037-DE975A1F09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84346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D68B773-8219-9567-613E-7A2F2D4F6C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843462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9B553D8-6E2B-127F-58DE-5165236A2DF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pPr algn="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53B208-9097-2E2C-EC03-BD8A67670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pic>
        <p:nvPicPr>
          <p:cNvPr id="4" name="NTT DATA Global Logo" descr="NTT DATA Logo">
            <a:extLst>
              <a:ext uri="{FF2B5EF4-FFF2-40B4-BE49-F238E27FC236}">
                <a16:creationId xmlns:a16="http://schemas.microsoft.com/office/drawing/2014/main" id="{07CD756B-D053-7A46-EC8E-FF1D6BF1F7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7" name="Info Box">
            <a:extLst>
              <a:ext uri="{FF2B5EF4-FFF2-40B4-BE49-F238E27FC236}">
                <a16:creationId xmlns:a16="http://schemas.microsoft.com/office/drawing/2014/main" id="{3CC8FA91-A78C-BC6E-F17A-FF26055644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101235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12386081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Light_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novation Curve">
            <a:extLst>
              <a:ext uri="{FF2B5EF4-FFF2-40B4-BE49-F238E27FC236}">
                <a16:creationId xmlns:a16="http://schemas.microsoft.com/office/drawing/2014/main" id="{00ADE50C-F63B-648C-9FD0-E0FA384DF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952" y="0"/>
            <a:ext cx="4602549" cy="687628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2ADFA92-0E48-355A-2DA8-D40523A9A8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969876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8B12889-37ED-D704-59B8-7CECF20BCF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969876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5333B3-E5F2-A1A8-F59F-D7085B34A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00FCC36-8879-E02B-48F4-D31C54AAA166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NTT DATA Global Logo">
            <a:extLst>
              <a:ext uri="{FF2B5EF4-FFF2-40B4-BE49-F238E27FC236}">
                <a16:creationId xmlns:a16="http://schemas.microsoft.com/office/drawing/2014/main" id="{6696BBEF-690F-3F5E-4ABD-464267D369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6" name="Info Box">
            <a:extLst>
              <a:ext uri="{FF2B5EF4-FFF2-40B4-BE49-F238E27FC236}">
                <a16:creationId xmlns:a16="http://schemas.microsoft.com/office/drawing/2014/main" id="{A934FE38-155A-D06E-C380-44183B71379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1475" y="5875374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1954369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Light_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9CCA6BB-2FF1-1F79-CE75-4214597FB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FBC9B23-4469-4B26-BEC9-4E111C2B8F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11440477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6E1903-FF29-7A88-0707-803367E5E51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6BE1-1DE6-82D8-B7EF-529F2205B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7460FF67-E88C-345F-912C-69776540AF2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pic>
        <p:nvPicPr>
          <p:cNvPr id="5" name="NTT DATA Global Logo">
            <a:extLst>
              <a:ext uri="{FF2B5EF4-FFF2-40B4-BE49-F238E27FC236}">
                <a16:creationId xmlns:a16="http://schemas.microsoft.com/office/drawing/2014/main" id="{2F900288-9276-0271-5B36-DA597F55D4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990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Cover_Light_Imag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2050182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0" cy="651610"/>
          </a:xfrm>
        </p:spPr>
        <p:txBody>
          <a:bodyPr/>
          <a:lstStyle>
            <a:lvl1pPr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Innovation Curve Over">
            <a:extLst>
              <a:ext uri="{FF2B5EF4-FFF2-40B4-BE49-F238E27FC236}">
                <a16:creationId xmlns:a16="http://schemas.microsoft.com/office/drawing/2014/main" id="{0E296AC8-E4D5-3A7F-3C42-CC289AAB1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26140" y="3147301"/>
            <a:ext cx="794384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123498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979EC8F5-DC72-37F6-85BB-C3ADC50D2D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pic>
        <p:nvPicPr>
          <p:cNvPr id="4" name="NTT DATA Global Logo">
            <a:extLst>
              <a:ext uri="{FF2B5EF4-FFF2-40B4-BE49-F238E27FC236}">
                <a16:creationId xmlns:a16="http://schemas.microsoft.com/office/drawing/2014/main" id="{93955C0C-38C4-366F-0C4D-7A71C122ED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74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45704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40874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Blank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0909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Blank_Light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340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Fu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solidFill>
            <a:schemeClr val="bg1"/>
          </a:solidFill>
        </p:spPr>
        <p:txBody>
          <a:bodyPr anchor="ctr" anchorCtr="0"/>
          <a:lstStyle>
            <a:lvl1pPr algn="ctr">
              <a:defRPr sz="2000">
                <a:solidFill>
                  <a:srgbClr val="0072BC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AAC9A100-4458-748B-AE62-3E3DB5DF4514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4304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Righ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082467D-38B1-0541-A8E7-DD846D36F5B1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8365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7233616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9629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338956" y="6563358"/>
            <a:ext cx="3524884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</p:spTree>
    <p:extLst>
      <p:ext uri="{BB962C8B-B14F-4D97-AF65-F5344CB8AC3E}">
        <p14:creationId xmlns:p14="http://schemas.microsoft.com/office/powerpoint/2010/main" val="4202742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Bottom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331DD0DE-B5CC-A60D-D998-80C96B7B6CAD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01162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Coll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7779" y="3987605"/>
            <a:ext cx="5371355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49318" y="2163386"/>
            <a:ext cx="2484125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5" y="333373"/>
            <a:ext cx="4419959" cy="3547536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49318" y="2140170"/>
            <a:ext cx="2484124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4225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5"/>
            <a:ext cx="4347085" cy="35556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5"/>
            <a:ext cx="2474100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7" y="3744196"/>
            <a:ext cx="2474099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79" y="5399590"/>
            <a:ext cx="5371355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49318" y="4926695"/>
            <a:ext cx="2471207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 userDrawn="1"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2023 NTT DATA, Inc.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938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Whi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TT DATA Global Logo">
            <a:extLst>
              <a:ext uri="{FF2B5EF4-FFF2-40B4-BE49-F238E27FC236}">
                <a16:creationId xmlns:a16="http://schemas.microsoft.com/office/drawing/2014/main" id="{01F40004-0B55-0534-B49E-3160E9FA2E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217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Future Blue with Picture Ligh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98CC4E28-4615-54DE-9A23-19AE8504C324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black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B17ABEB-CE11-6DFE-1EDF-82662ED8C9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844568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0294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091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Curve on Righ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8E54CF47-5670-1E36-A01C-CE6BD5FD4E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102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 Curve 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218376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AE44EF5E-6648-1398-B4E7-717D749EE9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575" y="2447060"/>
            <a:ext cx="3718800" cy="3718800"/>
          </a:xfrm>
          <a:prstGeom prst="rect">
            <a:avLst/>
          </a:prstGeom>
        </p:spPr>
      </p:pic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74CB7FF-BF38-583F-EB84-775D76F699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1475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accent6"/>
          </a:solidFill>
          <a:ln w="12700">
            <a:noFill/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5261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November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805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7086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2023 NTT DATA,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22E3CC-1B88-CF67-AD2F-D65E37E3716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NTT DATA Global Logo">
            <a:extLst>
              <a:ext uri="{FF2B5EF4-FFF2-40B4-BE49-F238E27FC236}">
                <a16:creationId xmlns:a16="http://schemas.microsoft.com/office/drawing/2014/main" id="{D3B22713-AB91-EF03-7CF0-CCF486815A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 bwMode="gray"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5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804863" indent="-268288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077913" indent="-273050" algn="l" defTabSz="914400" rtl="0" eaLnBrk="1" latinLnBrk="0" hangingPunct="1">
        <a:lnSpc>
          <a:spcPct val="1000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»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Marcador de texto 63">
            <a:extLst>
              <a:ext uri="{FF2B5EF4-FFF2-40B4-BE49-F238E27FC236}">
                <a16:creationId xmlns:a16="http://schemas.microsoft.com/office/drawing/2014/main" id="{45AD55AE-E98F-08C3-A302-EA8D5D5DB56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4645" y="472417"/>
            <a:ext cx="11449050" cy="28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/>
              <a:t>.</a:t>
            </a:r>
            <a:endParaRPr lang="es-PE" b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76E8AE-5C5A-C5D6-045E-6AA84309D14B}"/>
              </a:ext>
            </a:extLst>
          </p:cNvPr>
          <p:cNvSpPr/>
          <p:nvPr/>
        </p:nvSpPr>
        <p:spPr>
          <a:xfrm>
            <a:off x="1" y="848104"/>
            <a:ext cx="12191999" cy="76361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Quality</a:t>
            </a: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s-P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Services</a:t>
            </a:r>
            <a:r>
              <a: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entiende que el uso agentico de la inteligencia artificial como optimizador de los procesos es una pieza fundamental en la dinámica de un proyecto de software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0A187C18-0C39-0AD0-0407-DC0D5CEC319E}"/>
              </a:ext>
            </a:extLst>
          </p:cNvPr>
          <p:cNvSpPr txBox="1">
            <a:spLocks/>
          </p:cNvSpPr>
          <p:nvPr/>
        </p:nvSpPr>
        <p:spPr>
          <a:xfrm>
            <a:off x="212153" y="221024"/>
            <a:ext cx="11449050" cy="792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Agentes de IA — Everest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E3C1ADE8-1EF6-B899-50E3-26167F6655FC}"/>
              </a:ext>
            </a:extLst>
          </p:cNvPr>
          <p:cNvSpPr/>
          <p:nvPr/>
        </p:nvSpPr>
        <p:spPr>
          <a:xfrm>
            <a:off x="383909" y="1874520"/>
            <a:ext cx="5455767" cy="4014216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745987AF-04A8-AED7-637B-075A898CBD28}"/>
              </a:ext>
            </a:extLst>
          </p:cNvPr>
          <p:cNvSpPr/>
          <p:nvPr/>
        </p:nvSpPr>
        <p:spPr>
          <a:xfrm>
            <a:off x="383909" y="1874520"/>
            <a:ext cx="5455767" cy="822960"/>
          </a:xfrm>
          <a:prstGeom prst="round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Agente de Diseño de Casos de Prueba</a:t>
            </a: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65536148-E100-7F25-4DD5-C17EF29BB27B}"/>
              </a:ext>
            </a:extLst>
          </p:cNvPr>
          <p:cNvSpPr txBox="1"/>
          <p:nvPr/>
        </p:nvSpPr>
        <p:spPr>
          <a:xfrm>
            <a:off x="566789" y="2834640"/>
            <a:ext cx="509000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noProof="0" dirty="0">
                <a:solidFill>
                  <a:srgbClr val="2A2A2A"/>
                </a:solidFill>
              </a:rPr>
              <a:t>Lee las Historias de Usuario en </a:t>
            </a:r>
            <a:r>
              <a:rPr lang="es-CO" sz="1100" noProof="0" dirty="0" err="1">
                <a:solidFill>
                  <a:srgbClr val="2A2A2A"/>
                </a:solidFill>
              </a:rPr>
              <a:t>Markdown</a:t>
            </a:r>
            <a:r>
              <a:rPr lang="es-CO" sz="1100" noProof="0" dirty="0">
                <a:solidFill>
                  <a:srgbClr val="2A2A2A"/>
                </a:solidFill>
              </a:rPr>
              <a:t>, aplica reglas de cobertura funcional y no funcional, y genera una suite completa de casos de prueba en formato Jira lista para revisión y carga.</a:t>
            </a:r>
          </a:p>
        </p:txBody>
      </p:sp>
      <p:sp>
        <p:nvSpPr>
          <p:cNvPr id="48" name="TextBox 6">
            <a:extLst>
              <a:ext uri="{FF2B5EF4-FFF2-40B4-BE49-F238E27FC236}">
                <a16:creationId xmlns:a16="http://schemas.microsoft.com/office/drawing/2014/main" id="{45D5BBC2-C24F-301E-5184-08808D104FCB}"/>
              </a:ext>
            </a:extLst>
          </p:cNvPr>
          <p:cNvSpPr txBox="1"/>
          <p:nvPr/>
        </p:nvSpPr>
        <p:spPr>
          <a:xfrm>
            <a:off x="566789" y="3647828"/>
            <a:ext cx="5090007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A2A2A"/>
                </a:solidFill>
              </a:defRPr>
            </a:pPr>
            <a:r>
              <a:rPr lang="es-CO" noProof="0" dirty="0"/>
              <a:t>• Analiza HUs y </a:t>
            </a:r>
            <a:r>
              <a:rPr lang="es-CO" noProof="0" dirty="0" err="1"/>
              <a:t>checklist</a:t>
            </a:r>
            <a:r>
              <a:rPr lang="es-CO" noProof="0" dirty="0"/>
              <a:t> de cobertura</a:t>
            </a:r>
          </a:p>
          <a:p>
            <a:pPr>
              <a:spcAft>
                <a:spcPts val="600"/>
              </a:spcAft>
              <a:defRPr sz="1100">
                <a:solidFill>
                  <a:srgbClr val="2A2A2A"/>
                </a:solidFill>
              </a:defRPr>
            </a:pPr>
            <a:r>
              <a:rPr lang="es-CO" noProof="0" dirty="0"/>
              <a:t>• Clasifica casos: Funcional, Performance, Accesibilidad</a:t>
            </a:r>
          </a:p>
          <a:p>
            <a:pPr>
              <a:spcAft>
                <a:spcPts val="600"/>
              </a:spcAft>
              <a:defRPr sz="1100">
                <a:solidFill>
                  <a:srgbClr val="2A2A2A"/>
                </a:solidFill>
              </a:defRPr>
            </a:pPr>
            <a:r>
              <a:rPr lang="es-CO" noProof="0" dirty="0"/>
              <a:t>• Genera suite en Excel con formato Jira</a:t>
            </a:r>
          </a:p>
        </p:txBody>
      </p:sp>
      <p:sp>
        <p:nvSpPr>
          <p:cNvPr id="50" name="Oval 7">
            <a:extLst>
              <a:ext uri="{FF2B5EF4-FFF2-40B4-BE49-F238E27FC236}">
                <a16:creationId xmlns:a16="http://schemas.microsoft.com/office/drawing/2014/main" id="{0A575693-468D-F584-8994-0614D408A55E}"/>
              </a:ext>
            </a:extLst>
          </p:cNvPr>
          <p:cNvSpPr/>
          <p:nvPr/>
        </p:nvSpPr>
        <p:spPr>
          <a:xfrm>
            <a:off x="2197392" y="5007100"/>
            <a:ext cx="1828800" cy="822960"/>
          </a:xfrm>
          <a:prstGeom prst="ellipse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>
                <a:solidFill>
                  <a:srgbClr val="FFFFFF"/>
                </a:solidFill>
              </a:rPr>
              <a:t>7</a:t>
            </a:r>
            <a:r>
              <a:rPr sz="1400" b="1" dirty="0">
                <a:solidFill>
                  <a:srgbClr val="FFFFFF"/>
                </a:solidFill>
              </a:rPr>
              <a:t>0% </a:t>
            </a:r>
            <a:r>
              <a:rPr lang="es-CO" sz="1400" b="1" noProof="0" dirty="0">
                <a:solidFill>
                  <a:srgbClr val="FFFFFF"/>
                </a:solidFill>
              </a:rPr>
              <a:t>optimización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52" name="TextBox 8">
            <a:extLst>
              <a:ext uri="{FF2B5EF4-FFF2-40B4-BE49-F238E27FC236}">
                <a16:creationId xmlns:a16="http://schemas.microsoft.com/office/drawing/2014/main" id="{1C02ABEA-E363-FE4E-4FBA-3DA76C58DC68}"/>
              </a:ext>
            </a:extLst>
          </p:cNvPr>
          <p:cNvSpPr txBox="1"/>
          <p:nvPr/>
        </p:nvSpPr>
        <p:spPr>
          <a:xfrm>
            <a:off x="566789" y="4702203"/>
            <a:ext cx="50900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i="1" noProof="0">
                <a:solidFill>
                  <a:srgbClr val="6E6E6E"/>
                </a:solidFill>
              </a:rPr>
              <a:t>Nivel de optimización del agente</a:t>
            </a:r>
          </a:p>
        </p:txBody>
      </p:sp>
      <p:sp>
        <p:nvSpPr>
          <p:cNvPr id="54" name="Rounded Rectangle 9">
            <a:extLst>
              <a:ext uri="{FF2B5EF4-FFF2-40B4-BE49-F238E27FC236}">
                <a16:creationId xmlns:a16="http://schemas.microsoft.com/office/drawing/2014/main" id="{FADE772C-FB74-53BE-AED5-BED5DD20F669}"/>
              </a:ext>
            </a:extLst>
          </p:cNvPr>
          <p:cNvSpPr/>
          <p:nvPr/>
        </p:nvSpPr>
        <p:spPr>
          <a:xfrm>
            <a:off x="6205436" y="1874520"/>
            <a:ext cx="5455767" cy="4014216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1EA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10">
            <a:extLst>
              <a:ext uri="{FF2B5EF4-FFF2-40B4-BE49-F238E27FC236}">
                <a16:creationId xmlns:a16="http://schemas.microsoft.com/office/drawing/2014/main" id="{A62C47B5-78C1-383C-5773-25A892CB70F7}"/>
              </a:ext>
            </a:extLst>
          </p:cNvPr>
          <p:cNvSpPr/>
          <p:nvPr/>
        </p:nvSpPr>
        <p:spPr>
          <a:xfrm>
            <a:off x="6205436" y="1874520"/>
            <a:ext cx="5455767" cy="822960"/>
          </a:xfrm>
          <a:prstGeom prst="roundRect">
            <a:avLst/>
          </a:prstGeom>
          <a:solidFill>
            <a:srgbClr val="1EA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Agente de Generación de Scripts</a:t>
            </a:r>
          </a:p>
        </p:txBody>
      </p:sp>
      <p:sp>
        <p:nvSpPr>
          <p:cNvPr id="65" name="TextBox 11">
            <a:extLst>
              <a:ext uri="{FF2B5EF4-FFF2-40B4-BE49-F238E27FC236}">
                <a16:creationId xmlns:a16="http://schemas.microsoft.com/office/drawing/2014/main" id="{3DB4D63C-4A25-44BB-F75E-D543364205EE}"/>
              </a:ext>
            </a:extLst>
          </p:cNvPr>
          <p:cNvSpPr txBox="1"/>
          <p:nvPr/>
        </p:nvSpPr>
        <p:spPr>
          <a:xfrm>
            <a:off x="6388316" y="2834640"/>
            <a:ext cx="509000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noProof="0">
                <a:solidFill>
                  <a:srgbClr val="2A2A2A"/>
                </a:solidFill>
              </a:rPr>
              <a:t>Automatiza pruebas de API REST con Serenity BDD y REST </a:t>
            </a:r>
            <a:r>
              <a:rPr lang="es-CO" sz="1100" noProof="0" dirty="0" err="1">
                <a:solidFill>
                  <a:srgbClr val="2A2A2A"/>
                </a:solidFill>
              </a:rPr>
              <a:t>Assured</a:t>
            </a:r>
            <a:r>
              <a:rPr lang="es-CO" sz="1100" noProof="0" dirty="0">
                <a:solidFill>
                  <a:srgbClr val="2A2A2A"/>
                </a:solidFill>
              </a:rPr>
              <a:t>. Genera living </a:t>
            </a:r>
            <a:r>
              <a:rPr lang="es-CO" sz="1100" noProof="0" dirty="0" err="1">
                <a:solidFill>
                  <a:srgbClr val="2A2A2A"/>
                </a:solidFill>
              </a:rPr>
              <a:t>documentation</a:t>
            </a:r>
            <a:r>
              <a:rPr lang="es-CO" sz="1100" noProof="0" dirty="0">
                <a:solidFill>
                  <a:srgbClr val="2A2A2A"/>
                </a:solidFill>
              </a:rPr>
              <a:t>, reportes ejecutivos y suites de automatización con cobertura completa de </a:t>
            </a:r>
            <a:r>
              <a:rPr lang="es-CO" sz="1100" noProof="0" dirty="0" err="1">
                <a:solidFill>
                  <a:srgbClr val="2A2A2A"/>
                </a:solidFill>
              </a:rPr>
              <a:t>endpoints</a:t>
            </a:r>
            <a:r>
              <a:rPr lang="es-CO" sz="1100" noProof="0" dirty="0">
                <a:solidFill>
                  <a:srgbClr val="2A2A2A"/>
                </a:solidFill>
              </a:rPr>
              <a:t>.</a:t>
            </a:r>
          </a:p>
        </p:txBody>
      </p:sp>
      <p:sp>
        <p:nvSpPr>
          <p:cNvPr id="67" name="TextBox 12">
            <a:extLst>
              <a:ext uri="{FF2B5EF4-FFF2-40B4-BE49-F238E27FC236}">
                <a16:creationId xmlns:a16="http://schemas.microsoft.com/office/drawing/2014/main" id="{F6FBEFC0-AB31-C546-34F4-2314E8ACDDA9}"/>
              </a:ext>
            </a:extLst>
          </p:cNvPr>
          <p:cNvSpPr txBox="1"/>
          <p:nvPr/>
        </p:nvSpPr>
        <p:spPr>
          <a:xfrm>
            <a:off x="6400397" y="3647828"/>
            <a:ext cx="5090007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A2A2A"/>
                </a:solidFill>
              </a:defRPr>
            </a:pPr>
            <a:r>
              <a:rPr lang="es-CO" noProof="0" dirty="0"/>
              <a:t>• Genera </a:t>
            </a:r>
            <a:r>
              <a:rPr lang="es-CO" noProof="0" dirty="0" err="1"/>
              <a:t>steps</a:t>
            </a:r>
            <a:r>
              <a:rPr lang="es-CO" noProof="0" dirty="0"/>
              <a:t> y </a:t>
            </a:r>
            <a:r>
              <a:rPr lang="es-CO" noProof="0" dirty="0" err="1"/>
              <a:t>features</a:t>
            </a:r>
            <a:r>
              <a:rPr lang="es-CO" noProof="0" dirty="0"/>
              <a:t> (</a:t>
            </a:r>
            <a:r>
              <a:rPr lang="es-CO" noProof="0" dirty="0" err="1"/>
              <a:t>Screenplay</a:t>
            </a:r>
            <a:r>
              <a:rPr lang="es-CO" noProof="0" dirty="0"/>
              <a:t> </a:t>
            </a:r>
            <a:r>
              <a:rPr lang="es-CO" noProof="0" dirty="0" err="1"/>
              <a:t>Pattern</a:t>
            </a:r>
            <a:r>
              <a:rPr lang="es-CO" noProof="0" dirty="0"/>
              <a:t>)</a:t>
            </a:r>
          </a:p>
          <a:p>
            <a:pPr>
              <a:spcAft>
                <a:spcPts val="600"/>
              </a:spcAft>
              <a:defRPr sz="1100">
                <a:solidFill>
                  <a:srgbClr val="2A2A2A"/>
                </a:solidFill>
              </a:defRPr>
            </a:pPr>
            <a:r>
              <a:rPr lang="es-CO" noProof="0" dirty="0"/>
              <a:t>• Cobertura completa de </a:t>
            </a:r>
            <a:r>
              <a:rPr lang="es-CO" noProof="0" dirty="0" err="1"/>
              <a:t>endpoints</a:t>
            </a:r>
            <a:r>
              <a:rPr lang="es-CO" noProof="0" dirty="0"/>
              <a:t> REST</a:t>
            </a:r>
          </a:p>
          <a:p>
            <a:pPr>
              <a:spcAft>
                <a:spcPts val="600"/>
              </a:spcAft>
              <a:defRPr sz="1100">
                <a:solidFill>
                  <a:srgbClr val="2A2A2A"/>
                </a:solidFill>
              </a:defRPr>
            </a:pPr>
            <a:r>
              <a:rPr lang="es-CO" noProof="0" dirty="0"/>
              <a:t>• Documentación viva y reportes ejecutivos</a:t>
            </a:r>
          </a:p>
        </p:txBody>
      </p:sp>
      <p:sp>
        <p:nvSpPr>
          <p:cNvPr id="69" name="Oval 13">
            <a:extLst>
              <a:ext uri="{FF2B5EF4-FFF2-40B4-BE49-F238E27FC236}">
                <a16:creationId xmlns:a16="http://schemas.microsoft.com/office/drawing/2014/main" id="{9A3459B7-B9ED-2A0A-D28B-ED7384463565}"/>
              </a:ext>
            </a:extLst>
          </p:cNvPr>
          <p:cNvSpPr/>
          <p:nvPr/>
        </p:nvSpPr>
        <p:spPr>
          <a:xfrm>
            <a:off x="8018920" y="5007100"/>
            <a:ext cx="1828800" cy="822960"/>
          </a:xfrm>
          <a:prstGeom prst="ellipse">
            <a:avLst/>
          </a:prstGeom>
          <a:solidFill>
            <a:srgbClr val="1EA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50% optimización</a:t>
            </a:r>
          </a:p>
        </p:txBody>
      </p:sp>
      <p:sp>
        <p:nvSpPr>
          <p:cNvPr id="71" name="TextBox 14">
            <a:extLst>
              <a:ext uri="{FF2B5EF4-FFF2-40B4-BE49-F238E27FC236}">
                <a16:creationId xmlns:a16="http://schemas.microsoft.com/office/drawing/2014/main" id="{114A4F5F-8F62-478B-471F-AC002686AFFE}"/>
              </a:ext>
            </a:extLst>
          </p:cNvPr>
          <p:cNvSpPr txBox="1"/>
          <p:nvPr/>
        </p:nvSpPr>
        <p:spPr>
          <a:xfrm>
            <a:off x="6305790" y="4702202"/>
            <a:ext cx="50900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i="1" noProof="0">
                <a:solidFill>
                  <a:srgbClr val="6E6E6E"/>
                </a:solidFill>
              </a:rPr>
              <a:t>Nivel de optimización del agente</a:t>
            </a:r>
          </a:p>
        </p:txBody>
      </p:sp>
    </p:spTree>
    <p:extLst>
      <p:ext uri="{BB962C8B-B14F-4D97-AF65-F5344CB8AC3E}">
        <p14:creationId xmlns:p14="http://schemas.microsoft.com/office/powerpoint/2010/main" val="734704177"/>
      </p:ext>
    </p:extLst>
  </p:cSld>
  <p:clrMapOvr>
    <a:masterClrMapping/>
  </p:clrMapOvr>
</p:sld>
</file>

<file path=ppt/theme/theme1.xml><?xml version="1.0" encoding="utf-8"?>
<a:theme xmlns:a="http://schemas.openxmlformats.org/drawingml/2006/main" name="3_NTT DATA DARK ">
  <a:themeElements>
    <a:clrScheme name="NTT DATA 23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7F7F7F"/>
      </a:accent6>
      <a:hlink>
        <a:srgbClr val="19A3FC"/>
      </a:hlink>
      <a:folHlink>
        <a:srgbClr val="0072BC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 w="9525"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PowerPoint_Template.potx" id="{38420CBF-8BF6-416B-B040-7E1E46EF7821}" vid="{8E99A986-5A7D-46D3-AD5E-F449296905F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Panorámica</PresentationFormat>
  <Paragraphs>18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Georgia</vt:lpstr>
      <vt:lpstr>Roboto</vt:lpstr>
      <vt:lpstr>3_NTT DATA DARK 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Oliver Herrera Rodriguez</cp:lastModifiedBy>
  <cp:revision>3</cp:revision>
  <dcterms:created xsi:type="dcterms:W3CDTF">2013-01-27T09:14:16Z</dcterms:created>
  <dcterms:modified xsi:type="dcterms:W3CDTF">2026-08-28T15:23:11Z</dcterms:modified>
  <cp:category/>
</cp:coreProperties>
</file>